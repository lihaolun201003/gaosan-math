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0.svg" ContentType="image/svg+xml"/>
  <Override PartName="/ppt/media/image10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28.svg" ContentType="image/svg+xml"/>
  <Override PartName="/ppt/media/image30.svg" ContentType="image/svg+xml"/>
  <Override PartName="/ppt/media/image32.svg" ContentType="image/svg+xml"/>
  <Override PartName="/ppt/media/image34.svg" ContentType="image/svg+xml"/>
  <Override PartName="/ppt/media/image36.svg" ContentType="image/svg+xml"/>
  <Override PartName="/ppt/media/image38.svg" ContentType="image/svg+xml"/>
  <Override PartName="/ppt/media/image4.svg" ContentType="image/svg+xml"/>
  <Override PartName="/ppt/media/image40.svg" ContentType="image/svg+xml"/>
  <Override PartName="/ppt/media/image42.svg" ContentType="image/svg+xml"/>
  <Override PartName="/ppt/media/image44.svg" ContentType="image/svg+xml"/>
  <Override PartName="/ppt/media/image46.svg" ContentType="image/svg+xml"/>
  <Override PartName="/ppt/media/image47.svg" ContentType="image/svg+xml"/>
  <Override PartName="/ppt/media/image49.svg" ContentType="image/svg+xml"/>
  <Override PartName="/ppt/media/image51.svg" ContentType="image/svg+xml"/>
  <Override PartName="/ppt/media/image53.svg" ContentType="image/svg+xml"/>
  <Override PartName="/ppt/media/image55.svg" ContentType="image/svg+xml"/>
  <Override PartName="/ppt/media/image57.svg" ContentType="image/svg+xml"/>
  <Override PartName="/ppt/media/image59.svg" ContentType="image/svg+xml"/>
  <Override PartName="/ppt/media/image6.svg" ContentType="image/svg+xml"/>
  <Override PartName="/ppt/media/image60.svg" ContentType="image/svg+xml"/>
  <Override PartName="/ppt/media/image62.svg" ContentType="image/svg+xml"/>
  <Override PartName="/ppt/media/image63.svg" ContentType="image/svg+xml"/>
  <Override PartName="/ppt/media/image65.svg" ContentType="image/svg+xml"/>
  <Override PartName="/ppt/media/image67.svg" ContentType="image/svg+xml"/>
  <Override PartName="/ppt/media/image69.svg" ContentType="image/svg+xml"/>
  <Override PartName="/ppt/media/image71.svg" ContentType="image/svg+xml"/>
  <Override PartName="/ppt/media/image72.svg" ContentType="image/svg+xml"/>
  <Override PartName="/ppt/media/image73.svg" ContentType="image/svg+xml"/>
  <Override PartName="/ppt/media/image75.svg" ContentType="image/svg+xml"/>
  <Override PartName="/ppt/media/image76.svg" ContentType="image/svg+xml"/>
  <Override PartName="/ppt/media/image78.svg" ContentType="image/svg+xml"/>
  <Override PartName="/ppt/media/image8.svg" ContentType="image/svg+xml"/>
  <Override PartName="/ppt/media/image80.svg" ContentType="image/svg+xml"/>
  <Override PartName="/ppt/media/image82.svg" ContentType="image/svg+xml"/>
  <Override PartName="/ppt/media/image84.svg" ContentType="image/svg+xml"/>
  <Override PartName="/ppt/media/image86.svg" ContentType="image/svg+xml"/>
  <Override PartName="/ppt/media/image88.svg" ContentType="image/svg+xml"/>
  <Override PartName="/ppt/media/image90.svg" ContentType="image/svg+xml"/>
  <Override PartName="/ppt/media/image92.svg" ContentType="image/svg+xml"/>
  <Override PartName="/ppt/media/image94.svg" ContentType="image/svg+xml"/>
  <Override PartName="/ppt/media/image96.svg" ContentType="image/svg+xml"/>
  <Override PartName="/ppt/media/image98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type="screen16x9"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image" Target="../media/image5.png"/><Relationship Id="rId7" Type="http://schemas.openxmlformats.org/officeDocument/2006/relationships/image" Target="../media/image6.svg"/><Relationship Id="rId8" Type="http://schemas.openxmlformats.org/officeDocument/2006/relationships/image" Target="../media/image7.png"/><Relationship Id="rId9" Type="http://schemas.openxmlformats.org/officeDocument/2006/relationships/image" Target="../media/image8.svg"/><Relationship Id="rId10" Type="http://schemas.openxmlformats.org/officeDocument/2006/relationships/image" Target="../media/image9.png"/><Relationship Id="rId11" Type="http://schemas.openxmlformats.org/officeDocument/2006/relationships/image" Target="../media/image10.svg"/><Relationship Id="rId12" Type="http://schemas.openxmlformats.org/officeDocument/2006/relationships/image" Target="../media/image11.png"/><Relationship Id="rId13" Type="http://schemas.openxmlformats.org/officeDocument/2006/relationships/image" Target="../media/image12.svg"/><Relationship Id="rId14" Type="http://schemas.openxmlformats.org/officeDocument/2006/relationships/image" Target="../media/image13.png"/><Relationship Id="rId15" Type="http://schemas.openxmlformats.org/officeDocument/2006/relationships/image" Target="../media/image14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svg"/><Relationship Id="rId4" Type="http://schemas.openxmlformats.org/officeDocument/2006/relationships/image" Target="../media/image17.png"/><Relationship Id="rId5" Type="http://schemas.openxmlformats.org/officeDocument/2006/relationships/image" Target="../media/image18.svg"/><Relationship Id="rId6" Type="http://schemas.openxmlformats.org/officeDocument/2006/relationships/image" Target="../media/image19.png"/><Relationship Id="rId7" Type="http://schemas.openxmlformats.org/officeDocument/2006/relationships/image" Target="../media/image20.svg"/><Relationship Id="rId8" Type="http://schemas.openxmlformats.org/officeDocument/2006/relationships/image" Target="../media/image21.png"/><Relationship Id="rId9" Type="http://schemas.openxmlformats.org/officeDocument/2006/relationships/image" Target="../media/image22.svg"/><Relationship Id="rId10" Type="http://schemas.openxmlformats.org/officeDocument/2006/relationships/image" Target="../media/image23.png"/><Relationship Id="rId11" Type="http://schemas.openxmlformats.org/officeDocument/2006/relationships/image" Target="../media/image24.svg"/><Relationship Id="rId12" Type="http://schemas.openxmlformats.org/officeDocument/2006/relationships/image" Target="../media/image25.png"/><Relationship Id="rId13" Type="http://schemas.openxmlformats.org/officeDocument/2006/relationships/image" Target="../media/image26.svg"/><Relationship Id="rId14" Type="http://schemas.openxmlformats.org/officeDocument/2006/relationships/image" Target="../media/image27.png"/><Relationship Id="rId15" Type="http://schemas.openxmlformats.org/officeDocument/2006/relationships/image" Target="../media/image28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image" Target="../media/image30.svg"/><Relationship Id="rId4" Type="http://schemas.openxmlformats.org/officeDocument/2006/relationships/image" Target="../media/image31.png"/><Relationship Id="rId5" Type="http://schemas.openxmlformats.org/officeDocument/2006/relationships/image" Target="../media/image32.svg"/><Relationship Id="rId6" Type="http://schemas.openxmlformats.org/officeDocument/2006/relationships/image" Target="../media/image33.png"/><Relationship Id="rId7" Type="http://schemas.openxmlformats.org/officeDocument/2006/relationships/image" Target="../media/image34.svg"/><Relationship Id="rId8" Type="http://schemas.openxmlformats.org/officeDocument/2006/relationships/image" Target="../media/image35.png"/><Relationship Id="rId9" Type="http://schemas.openxmlformats.org/officeDocument/2006/relationships/image" Target="../media/image36.svg"/><Relationship Id="rId10" Type="http://schemas.openxmlformats.org/officeDocument/2006/relationships/image" Target="../media/image37.png"/><Relationship Id="rId11" Type="http://schemas.openxmlformats.org/officeDocument/2006/relationships/image" Target="../media/image38.svg"/><Relationship Id="rId12" Type="http://schemas.openxmlformats.org/officeDocument/2006/relationships/image" Target="../media/image39.png"/><Relationship Id="rId13" Type="http://schemas.openxmlformats.org/officeDocument/2006/relationships/image" Target="../media/image40.svg"/><Relationship Id="rId14" Type="http://schemas.openxmlformats.org/officeDocument/2006/relationships/image" Target="../media/image41.png"/><Relationship Id="rId15" Type="http://schemas.openxmlformats.org/officeDocument/2006/relationships/image" Target="../media/image42.sv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Relationship Id="rId3" Type="http://schemas.openxmlformats.org/officeDocument/2006/relationships/image" Target="../media/image44.svg"/><Relationship Id="rId4" Type="http://schemas.openxmlformats.org/officeDocument/2006/relationships/image" Target="../media/image45.png"/><Relationship Id="rId5" Type="http://schemas.openxmlformats.org/officeDocument/2006/relationships/image" Target="../media/image46.svg"/><Relationship Id="rId6" Type="http://schemas.openxmlformats.org/officeDocument/2006/relationships/image" Target="../media/image19.png"/><Relationship Id="rId7" Type="http://schemas.openxmlformats.org/officeDocument/2006/relationships/image" Target="../media/image47.svg"/><Relationship Id="rId8" Type="http://schemas.openxmlformats.org/officeDocument/2006/relationships/image" Target="../media/image48.png"/><Relationship Id="rId9" Type="http://schemas.openxmlformats.org/officeDocument/2006/relationships/image" Target="../media/image49.svg"/><Relationship Id="rId10" Type="http://schemas.openxmlformats.org/officeDocument/2006/relationships/image" Target="../media/image50.png"/><Relationship Id="rId11" Type="http://schemas.openxmlformats.org/officeDocument/2006/relationships/image" Target="../media/image51.svg"/><Relationship Id="rId12" Type="http://schemas.openxmlformats.org/officeDocument/2006/relationships/image" Target="../media/image52.png"/><Relationship Id="rId13" Type="http://schemas.openxmlformats.org/officeDocument/2006/relationships/image" Target="../media/image53.svg"/><Relationship Id="rId14" Type="http://schemas.openxmlformats.org/officeDocument/2006/relationships/image" Target="../media/image54.png"/><Relationship Id="rId15" Type="http://schemas.openxmlformats.org/officeDocument/2006/relationships/image" Target="../media/image55.sv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png"/><Relationship Id="rId3" Type="http://schemas.openxmlformats.org/officeDocument/2006/relationships/image" Target="../media/image57.svg"/><Relationship Id="rId4" Type="http://schemas.openxmlformats.org/officeDocument/2006/relationships/image" Target="../media/image58.png"/><Relationship Id="rId5" Type="http://schemas.openxmlformats.org/officeDocument/2006/relationships/image" Target="../media/image59.svg"/><Relationship Id="rId6" Type="http://schemas.openxmlformats.org/officeDocument/2006/relationships/image" Target="../media/image19.png"/><Relationship Id="rId7" Type="http://schemas.openxmlformats.org/officeDocument/2006/relationships/image" Target="../media/image60.svg"/><Relationship Id="rId8" Type="http://schemas.openxmlformats.org/officeDocument/2006/relationships/image" Target="../media/image61.png"/><Relationship Id="rId9" Type="http://schemas.openxmlformats.org/officeDocument/2006/relationships/image" Target="../media/image62.svg"/><Relationship Id="rId10" Type="http://schemas.openxmlformats.org/officeDocument/2006/relationships/image" Target="../media/image23.png"/><Relationship Id="rId11" Type="http://schemas.openxmlformats.org/officeDocument/2006/relationships/image" Target="../media/image63.svg"/><Relationship Id="rId12" Type="http://schemas.openxmlformats.org/officeDocument/2006/relationships/image" Target="../media/image64.png"/><Relationship Id="rId13" Type="http://schemas.openxmlformats.org/officeDocument/2006/relationships/image" Target="../media/image65.svg"/><Relationship Id="rId14" Type="http://schemas.openxmlformats.org/officeDocument/2006/relationships/image" Target="../media/image66.png"/><Relationship Id="rId15" Type="http://schemas.openxmlformats.org/officeDocument/2006/relationships/image" Target="../media/image67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8.png"/><Relationship Id="rId3" Type="http://schemas.openxmlformats.org/officeDocument/2006/relationships/image" Target="../media/image69.svg"/><Relationship Id="rId4" Type="http://schemas.openxmlformats.org/officeDocument/2006/relationships/image" Target="../media/image70.png"/><Relationship Id="rId5" Type="http://schemas.openxmlformats.org/officeDocument/2006/relationships/image" Target="../media/image71.svg"/><Relationship Id="rId6" Type="http://schemas.openxmlformats.org/officeDocument/2006/relationships/image" Target="../media/image19.png"/><Relationship Id="rId7" Type="http://schemas.openxmlformats.org/officeDocument/2006/relationships/image" Target="../media/image72.svg"/><Relationship Id="rId8" Type="http://schemas.openxmlformats.org/officeDocument/2006/relationships/image" Target="../media/image23.png"/><Relationship Id="rId9" Type="http://schemas.openxmlformats.org/officeDocument/2006/relationships/image" Target="../media/image73.svg"/><Relationship Id="rId10" Type="http://schemas.openxmlformats.org/officeDocument/2006/relationships/image" Target="../media/image74.png"/><Relationship Id="rId11" Type="http://schemas.openxmlformats.org/officeDocument/2006/relationships/image" Target="../media/image75.svg"/><Relationship Id="rId12" Type="http://schemas.openxmlformats.org/officeDocument/2006/relationships/image" Target="../media/image11.png"/><Relationship Id="rId13" Type="http://schemas.openxmlformats.org/officeDocument/2006/relationships/image" Target="../media/image76.svg"/><Relationship Id="rId14" Type="http://schemas.openxmlformats.org/officeDocument/2006/relationships/image" Target="../media/image77.png"/><Relationship Id="rId15" Type="http://schemas.openxmlformats.org/officeDocument/2006/relationships/image" Target="../media/image78.sv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9.png"/><Relationship Id="rId3" Type="http://schemas.openxmlformats.org/officeDocument/2006/relationships/image" Target="../media/image80.svg"/><Relationship Id="rId4" Type="http://schemas.openxmlformats.org/officeDocument/2006/relationships/image" Target="../media/image81.png"/><Relationship Id="rId5" Type="http://schemas.openxmlformats.org/officeDocument/2006/relationships/image" Target="../media/image82.svg"/><Relationship Id="rId6" Type="http://schemas.openxmlformats.org/officeDocument/2006/relationships/image" Target="../media/image83.png"/><Relationship Id="rId7" Type="http://schemas.openxmlformats.org/officeDocument/2006/relationships/image" Target="../media/image84.svg"/><Relationship Id="rId8" Type="http://schemas.openxmlformats.org/officeDocument/2006/relationships/image" Target="../media/image85.png"/><Relationship Id="rId9" Type="http://schemas.openxmlformats.org/officeDocument/2006/relationships/image" Target="../media/image86.svg"/><Relationship Id="rId10" Type="http://schemas.openxmlformats.org/officeDocument/2006/relationships/image" Target="../media/image87.png"/><Relationship Id="rId11" Type="http://schemas.openxmlformats.org/officeDocument/2006/relationships/image" Target="../media/image88.svg"/><Relationship Id="rId12" Type="http://schemas.openxmlformats.org/officeDocument/2006/relationships/image" Target="../media/image89.png"/><Relationship Id="rId13" Type="http://schemas.openxmlformats.org/officeDocument/2006/relationships/image" Target="../media/image90.svg"/><Relationship Id="rId14" Type="http://schemas.openxmlformats.org/officeDocument/2006/relationships/image" Target="../media/image91.png"/><Relationship Id="rId15" Type="http://schemas.openxmlformats.org/officeDocument/2006/relationships/image" Target="../media/image92.svg"/><Relationship Id="rId16" Type="http://schemas.openxmlformats.org/officeDocument/2006/relationships/image" Target="../media/image93.png"/><Relationship Id="rId17" Type="http://schemas.openxmlformats.org/officeDocument/2006/relationships/image" Target="../media/image94.sv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5.png"/><Relationship Id="rId3" Type="http://schemas.openxmlformats.org/officeDocument/2006/relationships/image" Target="../media/image96.svg"/><Relationship Id="rId4" Type="http://schemas.openxmlformats.org/officeDocument/2006/relationships/image" Target="../media/image97.png"/><Relationship Id="rId5" Type="http://schemas.openxmlformats.org/officeDocument/2006/relationships/image" Target="../media/image98.svg"/><Relationship Id="rId6" Type="http://schemas.openxmlformats.org/officeDocument/2006/relationships/image" Target="../media/image99.png"/><Relationship Id="rId7" Type="http://schemas.openxmlformats.org/officeDocument/2006/relationships/image" Target="../media/image100.sv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24000" y="2484742"/>
            <a:ext cx="9144000" cy="12192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54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高三数学专题复习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24000" y="3705924"/>
            <a:ext cx="9144000" cy="762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3000" b="0">
                <a:solidFill>
                  <a:srgbClr val="2E5496"/>
                </a:solidFill>
                <a:latin typeface="微软雅黑"/>
                <a:ea typeface="微软雅黑"/>
                <a:cs typeface="微软雅黑"/>
              </a:rPr>
              <a:t>集合——八大典型题型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352958"/>
            <a:ext cx="9144000" cy="7315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/>
            <a:r>
              <a:rPr sz="32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题型一　集合的基本运算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993191"/>
            <a:ext cx="1422400" cy="609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/>
            <a:r>
              <a:rPr sz="240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已知集合 </a:t>
            </a:r>
          </a:p>
        </p:txBody>
      </p:sp>
      <p:pic>
        <p:nvPicPr>
          <p:cNvPr id="4" name="$M=\{1,3,6\}$" descr="$M=\{1,3,6\}$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4:svgBlip xmlns:ns4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33600" y="1067654"/>
            <a:ext cx="1735389" cy="30366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868989" y="993191"/>
            <a:ext cx="355600" cy="609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/>
            <a:r>
              <a:rPr sz="240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，</a:t>
            </a:r>
          </a:p>
        </p:txBody>
      </p:sp>
      <p:pic>
        <p:nvPicPr>
          <p:cNvPr id="6" name="$N=\{1,3,5,7\}$" descr="$N=\{1,3,5,7\}$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ns7:svgBlip xmlns:ns7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173789" y="1067654"/>
            <a:ext cx="1967701" cy="30366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141490" y="993191"/>
            <a:ext cx="812800" cy="609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/>
            <a:r>
              <a:rPr sz="240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，则 </a:t>
            </a:r>
          </a:p>
        </p:txBody>
      </p:sp>
      <p:pic>
        <p:nvPicPr>
          <p:cNvPr id="8" name="$M\cap N=$" descr="$M\cap N=$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ns10:svgBlip xmlns:ns10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903490" y="1087898"/>
            <a:ext cx="1242191" cy="20750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145681" y="993191"/>
            <a:ext cx="965200" cy="609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/>
            <a:r>
              <a:rPr sz="240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（　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1475791"/>
            <a:ext cx="355600" cy="609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/>
            <a:r>
              <a:rPr sz="240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A.</a:t>
            </a:r>
          </a:p>
        </p:txBody>
      </p:sp>
      <p:pic>
        <p:nvPicPr>
          <p:cNvPr id="11" name="$\varnothing$" descr="$\varnothing$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ns15:svgBlip xmlns:ns15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30300" y="1601371"/>
            <a:ext cx="236182" cy="20142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874482" y="1475791"/>
            <a:ext cx="355600" cy="609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/>
            <a:r>
              <a:rPr sz="240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B.</a:t>
            </a:r>
          </a:p>
        </p:txBody>
      </p:sp>
      <p:pic>
        <p:nvPicPr>
          <p:cNvPr id="13" name="$\{5,6,7\}$" descr="$\{5,6,7\}$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ns18:svgBlip xmlns:ns18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242782" y="1550254"/>
            <a:ext cx="1016063" cy="30366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766845" y="1475791"/>
            <a:ext cx="355600" cy="609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/>
            <a:r>
              <a:rPr sz="240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C.</a:t>
            </a:r>
          </a:p>
        </p:txBody>
      </p:sp>
      <p:pic>
        <p:nvPicPr>
          <p:cNvPr id="15" name="$\{1,3\}$" descr="$\{1,3\}$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ns21:svgBlip xmlns:ns21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135145" y="1550254"/>
            <a:ext cx="734196" cy="30366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377340" y="1475791"/>
            <a:ext cx="355600" cy="609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/>
            <a:r>
              <a:rPr sz="240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D.</a:t>
            </a:r>
          </a:p>
        </p:txBody>
      </p:sp>
      <p:pic>
        <p:nvPicPr>
          <p:cNvPr id="17" name="$\{1,3,5,6,7\}$" descr="$\{1,3,5,6,7\}$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ns24:svgBlip xmlns:ns24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745640" y="1550254"/>
            <a:ext cx="1579798" cy="30366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352958"/>
            <a:ext cx="9144000" cy="7315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/>
            <a:r>
              <a:rPr sz="32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题型二　不等式与集合运算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993191"/>
            <a:ext cx="1422400" cy="609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/>
            <a:r>
              <a:rPr sz="240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已知集合 </a:t>
            </a:r>
          </a:p>
        </p:txBody>
      </p:sp>
      <p:pic>
        <p:nvPicPr>
          <p:cNvPr id="4" name="$A=\{-1,1,2,4\}$" descr="$A=\{-1,1,2,4\}$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4:svgBlip xmlns:ns4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33600" y="1067654"/>
            <a:ext cx="2156962" cy="30366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290562" y="993191"/>
            <a:ext cx="355600" cy="609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/>
            <a:r>
              <a:rPr sz="240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，</a:t>
            </a:r>
          </a:p>
        </p:txBody>
      </p:sp>
      <p:pic>
        <p:nvPicPr>
          <p:cNvPr id="6" name="$B=\{x\mid x^2-2x\leq 0\}$" descr="$B=\{x\mid x^2-2x\leq 0\}$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ns7:svgBlip xmlns:ns7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95362" y="1054742"/>
            <a:ext cx="2898313" cy="31657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493676" y="993191"/>
            <a:ext cx="812800" cy="609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/>
            <a:r>
              <a:rPr sz="240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，则 </a:t>
            </a:r>
          </a:p>
        </p:txBody>
      </p:sp>
      <p:pic>
        <p:nvPicPr>
          <p:cNvPr id="8" name="$A\cap B=$" descr="$A\cap B=$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ns10:svgBlip xmlns:ns10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55676" y="1087898"/>
            <a:ext cx="1117105" cy="20750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372781" y="993191"/>
            <a:ext cx="965200" cy="609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/>
            <a:r>
              <a:rPr sz="240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（　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1475791"/>
            <a:ext cx="355600" cy="609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/>
            <a:r>
              <a:rPr sz="240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A.</a:t>
            </a:r>
          </a:p>
        </p:txBody>
      </p:sp>
      <p:pic>
        <p:nvPicPr>
          <p:cNvPr id="11" name="$\{{-}1,2\}$" descr="$\{{-}1,2\}$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ns15:svgBlip xmlns:ns15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30300" y="1550254"/>
            <a:ext cx="970377" cy="30366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608677" y="1475791"/>
            <a:ext cx="355600" cy="609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/>
            <a:r>
              <a:rPr sz="240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B.</a:t>
            </a:r>
          </a:p>
        </p:txBody>
      </p:sp>
      <p:pic>
        <p:nvPicPr>
          <p:cNvPr id="13" name="$\{1,2\}$" descr="$\{1,2\}$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ns18:svgBlip xmlns:ns18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976977" y="1550254"/>
            <a:ext cx="734196" cy="30366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219173" y="1475791"/>
            <a:ext cx="355600" cy="609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/>
            <a:r>
              <a:rPr sz="240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C.</a:t>
            </a:r>
          </a:p>
        </p:txBody>
      </p:sp>
      <p:pic>
        <p:nvPicPr>
          <p:cNvPr id="15" name="$\{1,4\}$" descr="$\{1,4\}$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ns21:svgBlip xmlns:ns21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587473" y="1550254"/>
            <a:ext cx="734196" cy="30366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829668" y="1475791"/>
            <a:ext cx="355600" cy="609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/>
            <a:r>
              <a:rPr sz="240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D.</a:t>
            </a:r>
          </a:p>
        </p:txBody>
      </p:sp>
      <p:pic>
        <p:nvPicPr>
          <p:cNvPr id="17" name="$\{{-}1,4\}$" descr="$\{{-}1,4\}$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ns24:svgBlip xmlns:ns24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197968" y="1550254"/>
            <a:ext cx="970377" cy="30366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352958"/>
            <a:ext cx="9144000" cy="7315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/>
            <a:r>
              <a:rPr sz="32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题型三　区间型集合运算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993191"/>
            <a:ext cx="1422400" cy="609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/>
            <a:r>
              <a:rPr sz="240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已知集合 </a:t>
            </a:r>
          </a:p>
        </p:txBody>
      </p:sp>
      <p:pic>
        <p:nvPicPr>
          <p:cNvPr id="4" name="$A=\{x\mid -2&lt;x&lt;2\}$" descr="$A=\{x\mid -2&lt;x&lt;2\}$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4:svgBlip xmlns:ns4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33600" y="1067654"/>
            <a:ext cx="2850913" cy="30366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984513" y="993191"/>
            <a:ext cx="355600" cy="609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/>
            <a:r>
              <a:rPr sz="240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，</a:t>
            </a:r>
          </a:p>
        </p:txBody>
      </p:sp>
      <p:pic>
        <p:nvPicPr>
          <p:cNvPr id="6" name="$B=\{x\mid -1\leq x&lt;3\}$" descr="$B=\{x\mid -1\leq x&lt;3\}$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ns7:svgBlip xmlns:ns7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89313" y="1067654"/>
            <a:ext cx="2874147" cy="30366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163460" y="993191"/>
            <a:ext cx="812800" cy="609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/>
            <a:r>
              <a:rPr sz="240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，则 </a:t>
            </a:r>
          </a:p>
        </p:txBody>
      </p:sp>
      <p:pic>
        <p:nvPicPr>
          <p:cNvPr id="8" name="$A\cup B=$" descr="$A\cup B=$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ns10:svgBlip xmlns:ns10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925460" y="1087898"/>
            <a:ext cx="1117105" cy="20750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042565" y="993191"/>
            <a:ext cx="965200" cy="609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/>
            <a:r>
              <a:rPr sz="240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（　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1475791"/>
            <a:ext cx="355600" cy="609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/>
            <a:r>
              <a:rPr sz="240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A.</a:t>
            </a:r>
          </a:p>
        </p:txBody>
      </p:sp>
      <p:pic>
        <p:nvPicPr>
          <p:cNvPr id="11" name="$\{x\mid -2&lt;x&lt;3\}$" descr="$\{x\mid -2&lt;x&lt;3\}$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ns15:svgBlip xmlns:ns15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30300" y="1550254"/>
            <a:ext cx="2228063" cy="30366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866363" y="1475791"/>
            <a:ext cx="355600" cy="609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/>
            <a:r>
              <a:rPr sz="240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B.</a:t>
            </a:r>
          </a:p>
        </p:txBody>
      </p:sp>
      <p:pic>
        <p:nvPicPr>
          <p:cNvPr id="13" name="$\{x\mid x&gt;-2\}$" descr="$\{x\mid x&gt;-2\}$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ns18:svgBlip xmlns:ns18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234663" y="1550254"/>
            <a:ext cx="1679441" cy="30366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22104" y="1475791"/>
            <a:ext cx="355600" cy="609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/>
            <a:r>
              <a:rPr sz="240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C.</a:t>
            </a:r>
          </a:p>
        </p:txBody>
      </p:sp>
      <p:pic>
        <p:nvPicPr>
          <p:cNvPr id="15" name="$\{x\mid -1\leq x&lt;3\}$" descr="$\{x\mid -1\leq x&lt;3\}$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ns21:svgBlip xmlns:ns21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790404" y="1550254"/>
            <a:ext cx="2232986" cy="30366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531390" y="1475791"/>
            <a:ext cx="355600" cy="609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/>
            <a:r>
              <a:rPr sz="240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D.</a:t>
            </a:r>
          </a:p>
        </p:txBody>
      </p:sp>
      <p:pic>
        <p:nvPicPr>
          <p:cNvPr id="17" name="$\{x\mid x&lt;3\}$" descr="$\{x\mid x&lt;3\}$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ns24:svgBlip xmlns:ns24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9899690" y="1550254"/>
            <a:ext cx="1443259" cy="30366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352958"/>
            <a:ext cx="9144000" cy="7315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/>
            <a:r>
              <a:rPr sz="32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题型四　函数定义域与值域型集合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993191"/>
            <a:ext cx="1422400" cy="609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/>
            <a:r>
              <a:rPr sz="240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已知集合 </a:t>
            </a:r>
          </a:p>
        </p:txBody>
      </p:sp>
      <p:pic>
        <p:nvPicPr>
          <p:cNvPr id="4" name="$A=\{x\mid \log_2 x&lt;1\}$" descr="$A=\{x\mid \log_2 x&lt;1\}$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4:svgBlip xmlns:ns4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33600" y="1067654"/>
            <a:ext cx="2620973" cy="30366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754573" y="993191"/>
            <a:ext cx="355600" cy="609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/>
            <a:r>
              <a:rPr sz="240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，</a:t>
            </a:r>
          </a:p>
        </p:txBody>
      </p:sp>
      <p:pic>
        <p:nvPicPr>
          <p:cNvPr id="6" name="$B=\{x\mid 1&lt;x&lt;3\}$" descr="$B=\{x\mid 1&lt;x&lt;3\}$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ns7:svgBlip xmlns:ns7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59373" y="1067654"/>
            <a:ext cx="2633042" cy="30366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92415" y="993191"/>
            <a:ext cx="812800" cy="609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/>
            <a:r>
              <a:rPr sz="240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，则 </a:t>
            </a:r>
          </a:p>
        </p:txBody>
      </p:sp>
      <p:pic>
        <p:nvPicPr>
          <p:cNvPr id="8" name="$A\cap B=$" descr="$A\cap B=$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ns10:svgBlip xmlns:ns10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54415" y="1087898"/>
            <a:ext cx="1117105" cy="20750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571520" y="993191"/>
            <a:ext cx="965200" cy="609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/>
            <a:r>
              <a:rPr sz="240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（　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1475791"/>
            <a:ext cx="355600" cy="609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/>
            <a:r>
              <a:rPr sz="240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A.</a:t>
            </a:r>
          </a:p>
        </p:txBody>
      </p:sp>
      <p:pic>
        <p:nvPicPr>
          <p:cNvPr id="11" name="$(-1,1)$" descr="$(-1,1)$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ns15:svgBlip xmlns:ns15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30300" y="1550254"/>
            <a:ext cx="897973" cy="30366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536273" y="1475791"/>
            <a:ext cx="355600" cy="609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/>
            <a:r>
              <a:rPr sz="240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B.</a:t>
            </a:r>
          </a:p>
        </p:txBody>
      </p:sp>
      <p:pic>
        <p:nvPicPr>
          <p:cNvPr id="13" name="$(-1,2)$" descr="$(-1,2)$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ns18:svgBlip xmlns:ns18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904573" y="1550254"/>
            <a:ext cx="897973" cy="30366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310547" y="1475791"/>
            <a:ext cx="355600" cy="609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/>
            <a:r>
              <a:rPr sz="240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C.</a:t>
            </a:r>
          </a:p>
        </p:txBody>
      </p:sp>
      <p:pic>
        <p:nvPicPr>
          <p:cNvPr id="15" name="$(1,2)$" descr="$(1,2)$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ns21:svgBlip xmlns:ns21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678847" y="1550254"/>
            <a:ext cx="661792" cy="30366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848638" y="1475791"/>
            <a:ext cx="355600" cy="609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/>
            <a:r>
              <a:rPr sz="240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D.</a:t>
            </a:r>
          </a:p>
        </p:txBody>
      </p:sp>
      <p:pic>
        <p:nvPicPr>
          <p:cNvPr id="17" name="$(0,2)$" descr="$(0,2)$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ns24:svgBlip xmlns:ns24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216938" y="1550254"/>
            <a:ext cx="661792" cy="30366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352958"/>
            <a:ext cx="9144000" cy="7315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/>
            <a:r>
              <a:rPr sz="32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题型五　特殊数集与列举法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993191"/>
            <a:ext cx="1422400" cy="609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/>
            <a:r>
              <a:rPr sz="240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已知集合 </a:t>
            </a:r>
          </a:p>
        </p:txBody>
      </p:sp>
      <p:pic>
        <p:nvPicPr>
          <p:cNvPr id="4" name="$A=\{x\mid x^2-4x\leq 0\}$" descr="$A=\{x\mid x^2-4x\leq 0\}$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4:svgBlip xmlns:ns4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33600" y="1054742"/>
            <a:ext cx="2880002" cy="31657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13602" y="993191"/>
            <a:ext cx="355600" cy="609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/>
            <a:r>
              <a:rPr sz="240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，</a:t>
            </a:r>
          </a:p>
        </p:txBody>
      </p:sp>
      <p:pic>
        <p:nvPicPr>
          <p:cNvPr id="6" name="$B=\{x\in\mathbb N\mid |x|&lt;3\}$" descr="$B=\{x\in\mathbb N\mid |x|&lt;3\}$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ns7:svgBlip xmlns:ns7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18402" y="1067654"/>
            <a:ext cx="2843572" cy="30366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161974" y="993191"/>
            <a:ext cx="812800" cy="609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/>
            <a:r>
              <a:rPr sz="240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，则 </a:t>
            </a:r>
          </a:p>
        </p:txBody>
      </p:sp>
      <p:pic>
        <p:nvPicPr>
          <p:cNvPr id="8" name="$A\cap B=$" descr="$A\cap B=$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ns10:svgBlip xmlns:ns10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923974" y="1087898"/>
            <a:ext cx="1117105" cy="20750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041080" y="993191"/>
            <a:ext cx="965200" cy="609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/>
            <a:r>
              <a:rPr sz="240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（　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1475791"/>
            <a:ext cx="355600" cy="609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/>
            <a:r>
              <a:rPr sz="240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A.</a:t>
            </a:r>
          </a:p>
        </p:txBody>
      </p:sp>
      <p:pic>
        <p:nvPicPr>
          <p:cNvPr id="11" name="$\{0,1\}$" descr="$\{0,1\}$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ns15:svgBlip xmlns:ns15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30300" y="1550254"/>
            <a:ext cx="734196" cy="30366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372496" y="1475791"/>
            <a:ext cx="355600" cy="609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/>
            <a:r>
              <a:rPr sz="240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B.</a:t>
            </a:r>
          </a:p>
        </p:txBody>
      </p:sp>
      <p:pic>
        <p:nvPicPr>
          <p:cNvPr id="13" name="$\{1,2\}$" descr="$\{1,2\}$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ns18:svgBlip xmlns:ns18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740796" y="1550254"/>
            <a:ext cx="734196" cy="30366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982991" y="1475791"/>
            <a:ext cx="355600" cy="609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/>
            <a:r>
              <a:rPr sz="240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C.</a:t>
            </a:r>
          </a:p>
        </p:txBody>
      </p:sp>
      <p:pic>
        <p:nvPicPr>
          <p:cNvPr id="15" name="$\{0,1,2\}$" descr="$\{0,1,2\}$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ns21:svgBlip xmlns:ns21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351291" y="1550254"/>
            <a:ext cx="1016063" cy="30366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875354" y="1475791"/>
            <a:ext cx="355600" cy="609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/>
            <a:r>
              <a:rPr sz="240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D.</a:t>
            </a:r>
          </a:p>
        </p:txBody>
      </p:sp>
      <p:pic>
        <p:nvPicPr>
          <p:cNvPr id="17" name="$\{{-}1,0,1,2\}$" descr="$\{{-}1,0,1,2\}$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ns24:svgBlip xmlns:ns24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243654" y="1550254"/>
            <a:ext cx="1534112" cy="30366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352958"/>
            <a:ext cx="9144000" cy="7315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/>
            <a:r>
              <a:rPr sz="32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题型六　根据关系生成新集合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993191"/>
            <a:ext cx="1422400" cy="609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/>
            <a:r>
              <a:rPr sz="240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已知集合 </a:t>
            </a:r>
          </a:p>
        </p:txBody>
      </p:sp>
      <p:pic>
        <p:nvPicPr>
          <p:cNvPr id="4" name="$A=\{1,2,3\}$" descr="$A=\{1,2,3\}$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4:svgBlip xmlns:ns4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33600" y="1067654"/>
            <a:ext cx="1638913" cy="30366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772513" y="993191"/>
            <a:ext cx="355600" cy="609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/>
            <a:r>
              <a:rPr sz="240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，</a:t>
            </a:r>
          </a:p>
        </p:txBody>
      </p:sp>
      <p:pic>
        <p:nvPicPr>
          <p:cNvPr id="6" name="$B=\{y\mid y=2x-1,\ x\in A\}$" descr="$B=\{y\mid y=2x-1,\ x\in A\}$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ns7:svgBlip xmlns:ns7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77313" y="1067654"/>
            <a:ext cx="3742196" cy="30366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819509" y="993191"/>
            <a:ext cx="812800" cy="609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/>
            <a:r>
              <a:rPr sz="240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，则 </a:t>
            </a:r>
          </a:p>
        </p:txBody>
      </p:sp>
      <p:pic>
        <p:nvPicPr>
          <p:cNvPr id="8" name="$A\cap B=$" descr="$A\cap B=$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ns10:svgBlip xmlns:ns10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581509" y="1087898"/>
            <a:ext cx="1117105" cy="20750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98614" y="993191"/>
            <a:ext cx="965200" cy="609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/>
            <a:r>
              <a:rPr sz="240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（　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1475791"/>
            <a:ext cx="355600" cy="609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/>
            <a:r>
              <a:rPr sz="240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A.</a:t>
            </a:r>
          </a:p>
        </p:txBody>
      </p:sp>
      <p:pic>
        <p:nvPicPr>
          <p:cNvPr id="11" name="$\{1,2\}$" descr="$\{1,2\}$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ns15:svgBlip xmlns:ns15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30300" y="1550254"/>
            <a:ext cx="734196" cy="30366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372496" y="1475791"/>
            <a:ext cx="355600" cy="609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/>
            <a:r>
              <a:rPr sz="240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B.</a:t>
            </a:r>
          </a:p>
        </p:txBody>
      </p:sp>
      <p:pic>
        <p:nvPicPr>
          <p:cNvPr id="13" name="$\{1,2,3\}$" descr="$\{1,2,3\}$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ns18:svgBlip xmlns:ns18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740796" y="1550254"/>
            <a:ext cx="1016063" cy="30366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264859" y="1475791"/>
            <a:ext cx="355600" cy="609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/>
            <a:r>
              <a:rPr sz="240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C.</a:t>
            </a:r>
          </a:p>
        </p:txBody>
      </p:sp>
      <p:pic>
        <p:nvPicPr>
          <p:cNvPr id="15" name="$\{1,3\}$" descr="$\{1,3\}$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ns21:svgBlip xmlns:ns21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633159" y="1550254"/>
            <a:ext cx="734196" cy="30366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875354" y="1475791"/>
            <a:ext cx="355600" cy="609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/>
            <a:r>
              <a:rPr sz="240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D.</a:t>
            </a:r>
          </a:p>
        </p:txBody>
      </p:sp>
      <p:pic>
        <p:nvPicPr>
          <p:cNvPr id="17" name="$\{1,2,3,5\}$" descr="$\{1,2,3,5\}$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ns24:svgBlip xmlns:ns24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243654" y="1550254"/>
            <a:ext cx="1297931" cy="30366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352958"/>
            <a:ext cx="9144000" cy="7315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/>
            <a:r>
              <a:rPr sz="32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题型七　集合关系与元素个数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993191"/>
            <a:ext cx="1422400" cy="609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/>
            <a:r>
              <a:rPr sz="240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已知集合 </a:t>
            </a:r>
          </a:p>
        </p:txBody>
      </p:sp>
      <p:pic>
        <p:nvPicPr>
          <p:cNvPr id="4" name="$U=\{1,2,3,4\}$" descr="$U=\{1,2,3,4\}$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4:svgBlip xmlns:ns4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33600" y="1067654"/>
            <a:ext cx="1931543" cy="30366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065143" y="993191"/>
            <a:ext cx="1422400" cy="609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/>
            <a:r>
              <a:rPr sz="240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，若集合 </a:t>
            </a:r>
          </a:p>
        </p:txBody>
      </p:sp>
      <p:pic>
        <p:nvPicPr>
          <p:cNvPr id="6" name="$A,B$" descr="$A,B$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ns7:svgBlip xmlns:ns7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36743" y="1087898"/>
            <a:ext cx="597300" cy="26654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34043" y="993191"/>
            <a:ext cx="965200" cy="609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/>
            <a:r>
              <a:rPr sz="240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 满足 </a:t>
            </a:r>
          </a:p>
        </p:txBody>
      </p:sp>
      <p:pic>
        <p:nvPicPr>
          <p:cNvPr id="8" name="$A\subseteq B\subseteq U$" descr="$A\subseteq B\subseteq U$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ns10:svgBlip xmlns:ns10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948443" y="1087898"/>
            <a:ext cx="1507513" cy="24879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455956" y="993191"/>
            <a:ext cx="355600" cy="609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/>
            <a:r>
              <a:rPr sz="240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1475791"/>
            <a:ext cx="1422400" cy="609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/>
            <a:r>
              <a:rPr sz="240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则集合对 </a:t>
            </a:r>
          </a:p>
        </p:txBody>
      </p:sp>
      <p:pic>
        <p:nvPicPr>
          <p:cNvPr id="11" name="$(A,B)$" descr="$(A,B)$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ns15:svgBlip xmlns:ns15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133600" y="1550254"/>
            <a:ext cx="828558" cy="30366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962158" y="1475791"/>
            <a:ext cx="2336800" cy="609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/>
            <a:r>
              <a:rPr sz="240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 共有（　）个．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1932991"/>
            <a:ext cx="355600" cy="609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/>
            <a:r>
              <a:rPr sz="240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A.</a:t>
            </a:r>
          </a:p>
        </p:txBody>
      </p:sp>
      <p:pic>
        <p:nvPicPr>
          <p:cNvPr id="14" name="$36$" descr="$36$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ns20:svgBlip xmlns:ns20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130300" y="2039507"/>
            <a:ext cx="297332" cy="195693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935632" y="1932991"/>
            <a:ext cx="355600" cy="609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/>
            <a:r>
              <a:rPr sz="240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B.</a:t>
            </a:r>
          </a:p>
        </p:txBody>
      </p:sp>
      <p:pic>
        <p:nvPicPr>
          <p:cNvPr id="16" name="$48$" descr="$48$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ns23:svgBlip xmlns:ns23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303932" y="2039507"/>
            <a:ext cx="297332" cy="195693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109264" y="1932991"/>
            <a:ext cx="355600" cy="609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/>
            <a:r>
              <a:rPr sz="240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C.</a:t>
            </a:r>
          </a:p>
        </p:txBody>
      </p:sp>
      <p:pic>
        <p:nvPicPr>
          <p:cNvPr id="18" name="$64$" descr="$64$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ns26:svgBlip xmlns:ns26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3477564" y="2039507"/>
            <a:ext cx="297332" cy="195693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282896" y="1932991"/>
            <a:ext cx="355600" cy="609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/>
            <a:r>
              <a:rPr sz="240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D.</a:t>
            </a:r>
          </a:p>
        </p:txBody>
      </p:sp>
      <p:pic>
        <p:nvPicPr>
          <p:cNvPr id="20" name="$81$" descr="$81$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ns29:svgBlip xmlns:ns29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4651196" y="2039507"/>
            <a:ext cx="297332" cy="19569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352958"/>
            <a:ext cx="9144000" cy="7315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/>
            <a:r>
              <a:rPr sz="32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题型八　特殊元素与几何计数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993191"/>
            <a:ext cx="1422400" cy="609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/>
            <a:r>
              <a:rPr sz="240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已知集合 </a:t>
            </a:r>
          </a:p>
        </p:txBody>
      </p:sp>
      <p:pic>
        <p:nvPicPr>
          <p:cNvPr id="4" name="$U=\{(x,y)\mid x^2+y^2\leq 1,\ x\in\mathbb Z,\ y\in\mathbb Z\}$" descr="$U=\{(x,y)\mid x^2+y^2\leq 1,\ x\in\mathbb Z,\ y\in\mathbb Z\}$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4:svgBlip xmlns:ns4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33600" y="1054742"/>
            <a:ext cx="5300999" cy="31657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34599" y="993191"/>
            <a:ext cx="355600" cy="609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/>
            <a:r>
              <a:rPr sz="240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1475791"/>
            <a:ext cx="1117600" cy="609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/>
            <a:r>
              <a:rPr sz="240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则集合 </a:t>
            </a:r>
          </a:p>
        </p:txBody>
      </p:sp>
      <p:pic>
        <p:nvPicPr>
          <p:cNvPr id="7" name="$U$" descr="$U$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ns9:svgBlip xmlns:ns9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828800" y="1570498"/>
            <a:ext cx="233656" cy="20750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062456" y="1475791"/>
            <a:ext cx="2489200" cy="609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/>
            <a:r>
              <a:rPr sz="240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 中的元素个数为 </a:t>
            </a:r>
          </a:p>
        </p:txBody>
      </p:sp>
      <p:pic>
        <p:nvPicPr>
          <p:cNvPr id="9" name="$\underline{\hspace{3.6em}}$" descr="$\underline{\hspace{3.6em}}$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ns12:svgBlip xmlns:ns12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500856" y="1778000"/>
            <a:ext cx="1093182" cy="6073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594038" y="1475791"/>
            <a:ext cx="355600" cy="609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/>
            <a:r>
              <a:rPr sz="240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．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Times New Roman"/>
        <a:ea typeface="宋体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imes New Roman"/>
        <a:ea typeface="宋体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高三数学专题复习 集合——八大典型题型</dc:title>
  <dc:subject/>
  <dc:creator>数学备课</dc:creator>
  <cp:keywords/>
  <dc:description>高三数学·集合专题课堂板书课件（9 页）</dc:description>
  <cp:lastModifiedBy>数学备课</cp:lastModifiedBy>
  <cp:revision>1</cp:revision>
  <dcterms:created xsi:type="dcterms:W3CDTF">2013-01-27T09:14:16Z</dcterms:created>
  <dcterms:modified xsi:type="dcterms:W3CDTF">2013-01-27T09:15:58Z</dcterms:modified>
  <cp:category/>
</cp:coreProperties>
</file>